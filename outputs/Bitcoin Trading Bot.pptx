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5b79fba6394138" /><Relationship Type="http://schemas.openxmlformats.org/officeDocument/2006/relationships/extended-properties" Target="/docProps/app.xml" Id="Rf86a673d762d4e9d" /><Relationship Type="http://schemas.openxmlformats.org/officeDocument/2006/relationships/officeDocument" Target="/ppt/presentation.xml" Id="R6572bd4e188b4f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25b2b5c1ef47c9"/>
  </p:sldMasterIdLst>
  <p:notesMasterIdLst>
    <p:notesMasterId xmlns:r="http://schemas.openxmlformats.org/officeDocument/2006/relationships" r:id="R5f602c13734d45e5"/>
  </p:notesMasterIdLst>
  <p:sldIdLst>
    <p:sldId xmlns:r="http://schemas.openxmlformats.org/officeDocument/2006/relationships" id="256" r:id="Red012648536840ce"/>
    <p:sldId xmlns:r="http://schemas.openxmlformats.org/officeDocument/2006/relationships" id="257" r:id="R50b7e63a3e314c39"/>
    <p:sldId xmlns:r="http://schemas.openxmlformats.org/officeDocument/2006/relationships" id="258" r:id="Rd1500a117c1d4aff"/>
    <p:sldId xmlns:r="http://schemas.openxmlformats.org/officeDocument/2006/relationships" id="259" r:id="R29f945df199c46dd"/>
    <p:sldId xmlns:r="http://schemas.openxmlformats.org/officeDocument/2006/relationships" id="260" r:id="R311034f9d1524749"/>
    <p:sldId xmlns:r="http://schemas.openxmlformats.org/officeDocument/2006/relationships" id="261" r:id="Ra5f6878b87314234"/>
    <p:sldId xmlns:r="http://schemas.openxmlformats.org/officeDocument/2006/relationships" id="262" r:id="R922d9a272d36421f"/>
    <p:sldId xmlns:r="http://schemas.openxmlformats.org/officeDocument/2006/relationships" id="263" r:id="R909d032d2d8342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909a482ad34f1f" /><Relationship Type="http://schemas.openxmlformats.org/officeDocument/2006/relationships/slideMaster" Target="/ppt/slideMasters/slideMaster1.xml" Id="Rd925b2b5c1ef47c9" /><Relationship Type="http://schemas.openxmlformats.org/officeDocument/2006/relationships/notesMaster" Target="/ppt/notesMasters/notesMaster1.xml" Id="R5f602c13734d45e5" /><Relationship Type="http://schemas.openxmlformats.org/officeDocument/2006/relationships/presProps" Target="/ppt/presProps.xml" Id="R4a6bbe2a70334712" /><Relationship Type="http://schemas.openxmlformats.org/officeDocument/2006/relationships/tableStyles" Target="/ppt/tableStyles.xml" Id="Re606596b044f4be2" /><Relationship Type="http://schemas.openxmlformats.org/officeDocument/2006/relationships/slide" Target="/ppt/slides/slide1.xml" Id="Red012648536840ce" /><Relationship Type="http://schemas.openxmlformats.org/officeDocument/2006/relationships/slide" Target="/ppt/slides/slide2.xml" Id="R50b7e63a3e314c39" /><Relationship Type="http://schemas.openxmlformats.org/officeDocument/2006/relationships/slide" Target="/ppt/slides/slide3.xml" Id="Rd1500a117c1d4aff" /><Relationship Type="http://schemas.openxmlformats.org/officeDocument/2006/relationships/slide" Target="/ppt/slides/slide4.xml" Id="R29f945df199c46dd" /><Relationship Type="http://schemas.openxmlformats.org/officeDocument/2006/relationships/slide" Target="/ppt/slides/slide5.xml" Id="R311034f9d1524749" /><Relationship Type="http://schemas.openxmlformats.org/officeDocument/2006/relationships/slide" Target="/ppt/slides/slide6.xml" Id="Ra5f6878b87314234" /><Relationship Type="http://schemas.openxmlformats.org/officeDocument/2006/relationships/slide" Target="/ppt/slides/slide7.xml" Id="R922d9a272d36421f" /><Relationship Type="http://schemas.openxmlformats.org/officeDocument/2006/relationships/slide" Target="/ppt/slides/slide8.xml" Id="R909d032d2d8342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5a41ced10b49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dc20854d7e407a" /><Relationship Type="http://schemas.openxmlformats.org/officeDocument/2006/relationships/notesMaster" Target="/ppt/notesMasters/notesMaster1.xml" Id="R63b5449c4d6e4d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d3947556a844e9" /><Relationship Type="http://schemas.openxmlformats.org/officeDocument/2006/relationships/notesMaster" Target="/ppt/notesMasters/notesMaster1.xml" Id="Ra8d5fe2aa97a48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aba347138f4146" /><Relationship Type="http://schemas.openxmlformats.org/officeDocument/2006/relationships/notesMaster" Target="/ppt/notesMasters/notesMaster1.xml" Id="R03d0537d4a014b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0c1b3e0be54270" /><Relationship Type="http://schemas.openxmlformats.org/officeDocument/2006/relationships/notesMaster" Target="/ppt/notesMasters/notesMaster1.xml" Id="R5815f6a908fa49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e85cc7f15249b9" /><Relationship Type="http://schemas.openxmlformats.org/officeDocument/2006/relationships/notesMaster" Target="/ppt/notesMasters/notesMaster1.xml" Id="R8b757a2203ef44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26ba73013b4637" /><Relationship Type="http://schemas.openxmlformats.org/officeDocument/2006/relationships/notesMaster" Target="/ppt/notesMasters/notesMaster1.xml" Id="R10af15f5a1f04f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947f58fc414cc0" /><Relationship Type="http://schemas.openxmlformats.org/officeDocument/2006/relationships/notesMaster" Target="/ppt/notesMasters/notesMaster1.xml" Id="R1a76280bb80c4b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ab0f3e00724244" /><Relationship Type="http://schemas.openxmlformats.org/officeDocument/2006/relationships/notesMaster" Target="/ppt/notesMasters/notesMaster1.xml" Id="Ra6af92ae4ed249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fa5741d334a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b7f2bbe94b4cf4" /><Relationship Type="http://schemas.openxmlformats.org/officeDocument/2006/relationships/slideLayout" Target="/ppt/slideLayouts/slideLayout1.xml" Id="Rcabbcb56def441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bbcb56def441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13de6c0fe4d7c" /><Relationship Type="http://schemas.openxmlformats.org/officeDocument/2006/relationships/notesSlide" Target="/ppt/notesSlides/notesSlide1.xml" Id="Re6c1926e58a14e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6508705d145ec" /><Relationship Type="http://schemas.openxmlformats.org/officeDocument/2006/relationships/notesSlide" Target="/ppt/notesSlides/notesSlide2.xml" Id="R456ed12af08744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5ef7b7a8d4552" /><Relationship Type="http://schemas.openxmlformats.org/officeDocument/2006/relationships/chart" Target="/ppt/slides/charts/chart1.xml" Id="R26c6087c12ac4658" /><Relationship Type="http://schemas.openxmlformats.org/officeDocument/2006/relationships/notesSlide" Target="/ppt/notesSlides/notesSlide3.xml" Id="R2ff0157d988740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e3e0494b0484f" /><Relationship Type="http://schemas.openxmlformats.org/officeDocument/2006/relationships/notesSlide" Target="/ppt/notesSlides/notesSlide4.xml" Id="R8ca3b4d56ff64a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76a04d3d24bbb" /><Relationship Type="http://schemas.openxmlformats.org/officeDocument/2006/relationships/image" Target="/ppt/media/image.png" Id="Rf5674517bffe4034" /><Relationship Type="http://schemas.openxmlformats.org/officeDocument/2006/relationships/notesSlide" Target="/ppt/notesSlides/notesSlide5.xml" Id="Rdd30aa7d8b6244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6ae3909ee4bac" /><Relationship Type="http://schemas.openxmlformats.org/officeDocument/2006/relationships/image" Target="/ppt/media/image2.png" Id="R5ab0e506d12a47ad" /><Relationship Type="http://schemas.openxmlformats.org/officeDocument/2006/relationships/notesSlide" Target="/ppt/notesSlides/notesSlide6.xml" Id="R26637c0c628846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116dffaf54ea9" /><Relationship Type="http://schemas.openxmlformats.org/officeDocument/2006/relationships/chart" Target="/ppt/slides/charts/chart2.xml" Id="R5fb07d87664e4601" /><Relationship Type="http://schemas.openxmlformats.org/officeDocument/2006/relationships/chart" Target="/ppt/slides/charts/chart3.xml" Id="R642103c950e4432d" /><Relationship Type="http://schemas.openxmlformats.org/officeDocument/2006/relationships/notesSlide" Target="/ppt/notesSlides/notesSlide7.xml" Id="R8064d5062c484d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f1dfa046746c8" /><Relationship Type="http://schemas.openxmlformats.org/officeDocument/2006/relationships/notesSlide" Target="/ppt/notesSlides/notesSlide8.xml" Id="Rfaa6be6f2869464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Rows</c:v>
          </c:tx>
          <c:spPr>
            <a:solidFill xmlns:a="http://schemas.openxmlformats.org/drawingml/2006/main">
              <a:srgbClr val="2F6B2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Train</c:v>
              </c:pt>
              <c:pt idx="1">
                <c:v>Validation</c:v>
              </c:pt>
              <c:pt idx="2">
                <c:v>Test</c:v>
              </c:pt>
            </c:strLit>
          </c:cat>
          <c:val>
            <c:numLit>
              <c:formatCode>General</c:formatCode>
              <c:ptCount val="3"/>
              <c:pt idx="0">
                <c:v>147</c:v>
              </c:pt>
              <c:pt idx="1">
                <c:v>49</c:v>
              </c:pt>
              <c:pt idx="2">
                <c:v>49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DED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Total Return</c:v>
          </c:tx>
          <c:spPr>
            <a:solidFill xmlns:a="http://schemas.openxmlformats.org/drawingml/2006/main">
              <a:srgbClr val="2F6B2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Model Strategy</c:v>
              </c:pt>
              <c:pt idx="1">
                <c:v>Buy-and-Hold</c:v>
              </c:pt>
            </c:strLit>
          </c:cat>
          <c:val>
            <c:numLit>
              <c:formatCode>General</c:formatCode>
              <c:ptCount val="2"/>
              <c:pt idx="0">
                <c:v>0.1648281577771853</c:v>
              </c:pt>
              <c:pt idx="1">
                <c:v>1.2342466253761435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DED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Total Return (%)</c:v>
          </c:tx>
          <c:spPr>
            <a:solidFill xmlns:a="http://schemas.openxmlformats.org/drawingml/2006/main">
              <a:srgbClr val="2F6B2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Model Strategy</c:v>
              </c:pt>
              <c:pt idx="1">
                <c:v>Buy-and-Hold</c:v>
              </c:pt>
            </c:strLit>
          </c:cat>
          <c:val>
            <c:numLit>
              <c:formatCode>General</c:formatCode>
              <c:ptCount val="2"/>
              <c:pt idx="0">
                <c:v>16.5</c:v>
              </c:pt>
              <c:pt idx="1">
                <c:v>123.4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DED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E103D0-C861-4DD6-90C6-2B0443B9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USW Gruppe02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A945B-4309-4F5B-AC94-A8B791A2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02124"/>
                </a:solidFill>
              </a:defRPr>
            </a:pPr>
            <a:r>
              <a:rPr sz="4200" b="1">
                <a:solidFill>
                  <a:srgbClr val="202124"/>
                </a:solidFill>
              </a:rPr>
              <a:t>Bitcoin Trading 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2CED2-E39C-4134-8689-D5F7BDCE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368"/>
                </a:solidFill>
              </a:defRPr>
            </a:pPr>
            <a:r>
              <a:rPr sz="1800">
                <a:solidFill>
                  <a:srgbClr val="5F6368"/>
                </a:solidFill>
              </a:rPr>
              <a:t>04 Split Data  •  05 Preparation  •  06 Modelling  •  07 Backtesting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78251-A665-46D4-B0BF-33635ED3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Dongwoo Kim · Cu, Kevin Nhat Tien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6B288-7F05-4985-AC1D-BFF439FB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368"/>
                </a:solidFill>
              </a:defRPr>
            </a:pPr>
            <a:r>
              <a:rPr sz="1200">
                <a:solidFill>
                  <a:srgbClr val="5F6368"/>
                </a:solidFill>
              </a:rPr>
              <a:t>HTW Berlin | Unternehmenssoftware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27B3F-BF2A-49EA-9F57-DDA606BC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0"/>
            <a:ext cx="3524250" cy="6858000"/>
          </a:xfrm>
          <a:prstGeom xmlns:a="http://schemas.openxmlformats.org/drawingml/2006/main" prst="roundRect">
            <a:avLst>
              <a:gd name="adj" fmla="val 1622"/>
            </a:avLst>
          </a:prstGeom>
          <a:solidFill xmlns:a="http://schemas.openxmlformats.org/drawingml/2006/main">
            <a:srgbClr val="2F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0BB7A-E1C5-4289-BCDB-FA46D9B0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Trainieren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Testen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Backtesten</a:t>
            </a:r>
          </a:p>
        </p:txBody>
      </p:sp>
    </p:spTree>
    <p:extLst>
      <p:ext uri="{BB962C8B-B14F-4D97-AF65-F5344CB8AC3E}">
        <p14:creationId xmlns:p14="http://schemas.microsoft.com/office/powerpoint/2010/main" val="1763000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ED350F-C345-40AF-BA41-48D93DCF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533D"/>
                </a:solidFill>
              </a:defRPr>
            </a:pPr>
            <a:r>
              <a:rPr sz="1200" b="1">
                <a:solidFill>
                  <a:srgbClr val="B5533D"/>
                </a:solidFill>
              </a:rPr>
              <a:t>ÜBERBLICK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4D13F-DBAA-4771-8D77-00564EF6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Was zeigen wir heute?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D02E7-B4B7-495F-90CB-453C3135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A8279"/>
                </a:solidFill>
              </a:defRPr>
            </a:pPr>
            <a:r>
              <a:rPr sz="1200">
                <a:solidFill>
                  <a:srgbClr val="8A8279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5FBB2-9BA7-47A6-80F6-095BC20C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190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2F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81DE6-66FE-4020-86EC-1BBF7BC1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308CC-22D8-49E7-838F-C4DB42DF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Split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4ADEA-958F-468D-8A4D-43C7ECB5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Zeitlich trennen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4261F-54C2-4D94-9762-ADBFAA49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190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2F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5112B-2EFA-4D1E-AE87-AF6DE0A0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FFD81-EF36-4CCD-B603-8972192C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9F00C-5B6F-4278-84BE-B0D2592C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Features auswählen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und skalieren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3D410-F55A-4F49-B81E-2987DAF2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190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2F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FE533-EF54-4599-A7FE-916BDC09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E505F-A914-42D0-987D-E7D9AED9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Modelling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06DEC-C897-4A15-A7E4-5F001D74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Modelle trainieren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und testen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0B2FA-ACAA-4071-8135-68320307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190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7B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B3EAB-A4A7-49C4-95CD-2171B448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93B3B-1415-49E8-8572-2CEC44C9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Backtesting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7A2BA-293D-4DFB-94AD-2BB98A69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Trading-Regel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bewerten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FBF5A-A92F-4C87-9A54-30F2A357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CFF97-DDCD-41FF-BB21-EF896106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Train → Validation →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9339D-2D80-4F24-B623-86A281A3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96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kein zufälliger 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6F657-A100-4CEF-965D-BD326CB3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F4D120-DE5D-4A40-9EEE-2E3B5926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0532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21 Features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AE972-8DE9-449B-A377-5106D92B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196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nach Feature-Auswahl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98BC3-7BB6-42B4-856E-33C4FD51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33875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7ADD07-EAD0-42B7-9860-A1BE1D60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1 Backtest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9D930-9146-4561-B9B7-B6422307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196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auf finalem Testzeitraum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E53A90-C77B-4EF5-BDB3-C65EC91C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FA8D48-71CC-4B51-A661-B5EFBB36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BA238E-1C5F-4FE3-B188-B7FE4581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91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</a:rPr>
              <a:t>Train → Val → 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BD09EF-A6F0-44BB-944D-0448F92C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29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chronologischer Split</a:t>
            </a:r>
          </a:p>
        </p:txBody>
      </p:sp>
    </p:spTree>
    <p:extLst>
      <p:ext uri="{BB962C8B-B14F-4D97-AF65-F5344CB8AC3E}">
        <p14:creationId xmlns:p14="http://schemas.microsoft.com/office/powerpoint/2010/main" val="231671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4E760A-202A-4D6F-AF9E-A2E177C2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533D"/>
                </a:solidFill>
              </a:defRPr>
            </a:pPr>
            <a:r>
              <a:rPr sz="1200" b="1">
                <a:solidFill>
                  <a:srgbClr val="B5533D"/>
                </a:solidFill>
              </a:rPr>
              <a:t>04 SPLIT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8779D-99DF-4490-86ED-CF82BDC1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Chronologischer Split statt Random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902A5-14C3-4912-837A-15D70F90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A8279"/>
                </a:solidFill>
              </a:defRPr>
            </a:pPr>
            <a:r>
              <a:rPr sz="1200">
                <a:solidFill>
                  <a:srgbClr val="8A8279"/>
                </a:solidFill>
              </a:rPr>
              <a:t>03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62000" y="1571625"/>
          <a:ext xmlns:a="http://schemas.openxmlformats.org/drawingml/2006/main" cx="6191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c6087c12ac465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B4C28-4324-43F2-83E2-C3028AC5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8D156-2B27-42DF-B598-9289D63A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859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60 / 20 /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D05DA-770A-4726-BAAC-400D04F9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003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Train, Validation,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7D876-A0F6-473A-8954-557D1207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B361E-F7C2-49FE-B4D3-68B9AA40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67075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1 Woche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7109C-85FC-430F-B936-68AD7813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814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Embargo zwischen Splits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FE584-8598-4AEE-80B4-4F1D13FD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196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2124"/>
                </a:solidFill>
              </a:defRPr>
            </a:pPr>
            <a:r>
              <a:rPr sz="1650">
                <a:solidFill>
                  <a:srgbClr val="202124"/>
                </a:solidFill>
              </a:rPr>
              <a:t>• Zeitreihe: keine Durchmischung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3E71E-AB2B-4573-82D1-028CF478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006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2124"/>
                </a:solidFill>
              </a:defRPr>
            </a:pPr>
            <a:r>
              <a:rPr sz="1650">
                <a:solidFill>
                  <a:srgbClr val="202124"/>
                </a:solidFill>
              </a:rPr>
              <a:t>• Test bleibt bis zum Ende unberührt</a:t>
            </a:r>
          </a:p>
        </p:txBody>
      </p:sp>
    </p:spTree>
    <p:extLst>
      <p:ext uri="{BB962C8B-B14F-4D97-AF65-F5344CB8AC3E}">
        <p14:creationId xmlns:p14="http://schemas.microsoft.com/office/powerpoint/2010/main" val="1805534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9D1914-3A18-4EC6-A668-3873E296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533D"/>
                </a:solidFill>
              </a:defRPr>
            </a:pPr>
            <a:r>
              <a:rPr sz="1200" b="1">
                <a:solidFill>
                  <a:srgbClr val="B5533D"/>
                </a:solidFill>
              </a:rPr>
              <a:t>05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0C7E5-9EF5-42C9-9E96-EA79A1D5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Feature-Auswahl und Skalierung ohne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EA2B2-C2A3-44D6-AE53-633E934C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A8279"/>
                </a:solidFill>
              </a:defRPr>
            </a:pPr>
            <a:r>
              <a:rPr sz="1200">
                <a:solidFill>
                  <a:srgbClr val="8A8279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8C8E3-EA19-4DB6-93C1-F83FC9DD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1B836-D89B-4DDC-A238-83F9BF3B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7AC58-AD04-4590-B422-D5F5F515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Features vorher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6C70E-9E3A-4C0A-9C40-20E19EE3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764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F6B2B"/>
                </a:solidFill>
              </a:defRPr>
            </a:pPr>
            <a:r>
              <a:rPr sz="4500" b="1">
                <a:solidFill>
                  <a:srgbClr val="2F6B2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B1BFB-70BA-4F6A-AAC8-8F45DA73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6045D-6803-43C3-A1C3-555CA940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88A7F-0B5D-4EE4-B77B-E37E3BE4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9555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Features nach Auswahl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A238B-A81C-4021-8942-D79F9A34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2667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FAD6A-FA05-4D0A-8F3E-E1D031B4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0.90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CC832-F5E6-449D-A8E2-C95C09B7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95550"/>
            <a:ext cx="232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Korrelationsschwelle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A3D17-A616-4640-A102-EA5A0C82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962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2F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96BA7-1235-4327-BBA1-211AB1EF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Feature Selection nur auf Train-Daten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B7787-2F6D-476B-9DF4-2C877DEB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Validation und Test beeinflussen die Auswahl nicht.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B7EF7-937C-48F7-892C-344A7383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2124"/>
                </a:solidFill>
              </a:defRPr>
            </a:pPr>
            <a:r>
              <a:rPr sz="1650">
                <a:solidFill>
                  <a:srgbClr val="202124"/>
                </a:solidFill>
              </a:rPr>
              <a:t>• Scaler wird nur auf Train fit gemacht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B9440-5C3E-4E8A-B7AC-523DA32C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43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2124"/>
                </a:solidFill>
              </a:defRPr>
            </a:pPr>
            <a:r>
              <a:rPr sz="1650">
                <a:solidFill>
                  <a:srgbClr val="202124"/>
                </a:solidFill>
              </a:rPr>
              <a:t>• Gleicher Scaler für Validation und Test</a:t>
            </a:r>
          </a:p>
        </p:txBody>
      </p:sp>
    </p:spTree>
    <p:extLst>
      <p:ext uri="{BB962C8B-B14F-4D97-AF65-F5344CB8AC3E}">
        <p14:creationId xmlns:p14="http://schemas.microsoft.com/office/powerpoint/2010/main" val="1940559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DA6DEC-A994-4CEB-BDF7-4D483FE1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533D"/>
                </a:solidFill>
              </a:defRPr>
            </a:pPr>
            <a:r>
              <a:rPr sz="1200" b="1">
                <a:solidFill>
                  <a:srgbClr val="B5533D"/>
                </a:solidFill>
              </a:rPr>
              <a:t>06 MODELLING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B9A74-4A88-475B-8444-B1FBF424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Validation: Logistic Regression gewinnt knapp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7D952-450D-441A-9082-274BD56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A8279"/>
                </a:solidFill>
              </a:defRPr>
            </a:pPr>
            <a:r>
              <a:rPr sz="1200">
                <a:solidFill>
                  <a:srgbClr val="8A8279"/>
                </a:solidFill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74517bffe4034"/>
          <a:stretch xmlns:a="http://schemas.openxmlformats.org/drawingml/2006/main"/>
        </p:blipFill>
        <p:spPr>
          <a:xfrm xmlns:a="http://schemas.openxmlformats.org/drawingml/2006/main">
            <a:off x="523875" y="1514475"/>
            <a:ext cx="6858000" cy="4114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D714D-14D3-4CBC-8A1F-5DF3BD23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18E10-0223-4011-8363-E99A3965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38325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54.5%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211EA-E4C9-4AB0-A4C2-F6975DA9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Balanced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DA3B2-3674-433B-A623-07DDAE55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0375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AB290-B226-446D-8924-AD53713A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71825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C = 0.1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96A8B-7A9C-4A62-834A-6E7385B1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861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gewähltes Modell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6A1AB-8F74-473F-830C-EBA388C1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6368"/>
                </a:solidFill>
              </a:defRPr>
            </a:pPr>
            <a:r>
              <a:rPr sz="1950">
                <a:solidFill>
                  <a:srgbClr val="5F6368"/>
                </a:solidFill>
              </a:rPr>
              <a:t>Baseline: 50.0%</a:t>
            </a:r>
          </a:p>
          <a:p xmlns:a="http://schemas.openxmlformats.org/drawingml/2006/main">
            <a:pPr>
              <a:defRPr sz="1950">
                <a:solidFill>
                  <a:srgbClr val="5F6368"/>
                </a:solidFill>
              </a:defRPr>
            </a:pPr>
            <a:r>
              <a:rPr sz="1950">
                <a:solidFill>
                  <a:srgbClr val="5F6368"/>
                </a:solidFill>
              </a:rPr>
              <a:t>XGBoost: 48.8%</a:t>
            </a:r>
          </a:p>
        </p:txBody>
      </p:sp>
    </p:spTree>
    <p:extLst>
      <p:ext uri="{BB962C8B-B14F-4D97-AF65-F5344CB8AC3E}">
        <p14:creationId xmlns:p14="http://schemas.microsoft.com/office/powerpoint/2010/main" val="5958099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A70688-20D4-45A9-B24B-AE334D73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533D"/>
                </a:solidFill>
              </a:defRPr>
            </a:pPr>
            <a:r>
              <a:rPr sz="1200" b="1">
                <a:solidFill>
                  <a:srgbClr val="B5533D"/>
                </a:solidFill>
              </a:rPr>
              <a:t>06 TEST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A72FD-E78D-4256-A4B4-F9C06749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Test: Prognose noch nicht stabil genug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1CF0F-A1D0-4D62-BC39-B37ED39F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A8279"/>
                </a:solidFill>
              </a:defRPr>
            </a:pPr>
            <a:r>
              <a:rPr sz="1200">
                <a:solidFill>
                  <a:srgbClr val="8A8279"/>
                </a:solidFill>
              </a:rPr>
              <a:t>06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0e506d12a47ad"/>
          <a:stretch xmlns:a="http://schemas.openxmlformats.org/drawingml/2006/main"/>
        </p:blipFill>
        <p:spPr>
          <a:xfrm xmlns:a="http://schemas.openxmlformats.org/drawingml/2006/main">
            <a:off x="752475" y="1428750"/>
            <a:ext cx="4914900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ACB28-81AE-458B-8684-ADCE194A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EFCB9-4038-4E3A-83D3-A0AFAD57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954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49.0%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823C2-ABDF-473B-BDED-3C189AB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098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18069-C977-43D6-A3CD-15FC5417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F2878-8DFE-409A-8391-AE17E24B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49.6%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B6BB7-5F5C-40CD-8C32-BDE8224A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Balanced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8908F-9BD1-41F9-AF8A-9E01B81C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91F01-3EA2-47F1-B345-F7F35F86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7182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61.3%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F2E37-9638-43A4-8F8F-1980AEC6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861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ROC-AUC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7A346-F387-4AA6-9097-C4097A1B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CDA0B-84F0-442B-9EAD-6D0B5562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7182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20.0%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44AF2-C960-4964-A077-F69E8425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861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Recall für 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E0736-44E4-4404-B77C-5CADA563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5533D"/>
                </a:solidFill>
              </a:defRPr>
            </a:pPr>
            <a:r>
              <a:rPr sz="1950" b="1">
                <a:solidFill>
                  <a:srgbClr val="B5533D"/>
                </a:solidFill>
              </a:rPr>
              <a:t>Viele Up-Wochen wurden verpasst.</a:t>
            </a:r>
          </a:p>
          <a:p xmlns:a="http://schemas.openxmlformats.org/drawingml/2006/main">
            <a:pPr>
              <a:defRPr sz="1950" b="1">
                <a:solidFill>
                  <a:srgbClr val="B5533D"/>
                </a:solidFill>
              </a:defRPr>
            </a:pPr>
            <a:r>
              <a:rPr sz="1950" b="1">
                <a:solidFill>
                  <a:srgbClr val="B5533D"/>
                </a:solidFill>
              </a:rPr>
              <a:t>Für Trading reicht das noch nicht.</a:t>
            </a:r>
          </a:p>
        </p:txBody>
      </p:sp>
    </p:spTree>
    <p:extLst>
      <p:ext uri="{BB962C8B-B14F-4D97-AF65-F5344CB8AC3E}">
        <p14:creationId xmlns:p14="http://schemas.microsoft.com/office/powerpoint/2010/main" val="170565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BE6BF0-7815-4B68-9950-591D5EA0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533D"/>
                </a:solidFill>
              </a:defRPr>
            </a:pPr>
            <a:r>
              <a:rPr sz="1200" b="1">
                <a:solidFill>
                  <a:srgbClr val="B5533D"/>
                </a:solidFill>
              </a:rPr>
              <a:t>07 BACKTESTING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9196A-E1CE-49CB-97EB-0A4C424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Strategie macht Gewinn, aber Buy-and-Hold ist stärker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956CB-50B1-4AC9-8898-DDE8507D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A8279"/>
                </a:solidFill>
              </a:defRPr>
            </a:pPr>
            <a:r>
              <a:rPr sz="1200">
                <a:solidFill>
                  <a:srgbClr val="8A8279"/>
                </a:solidFill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6286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b07d87664e460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C4180-2A98-4536-A60F-183703FE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338C9-5012-4DCD-AE46-E26064D5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43075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16.5%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D26A5-A325-4756-BAA4-CDF24494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574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Model 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3EC3A-64CF-462D-8DD6-1E816ABD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46451-17FF-4517-8B51-D8DD894A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4"/>
                </a:solidFill>
              </a:defRPr>
            </a:pPr>
            <a:r>
              <a:rPr sz="2550" b="1">
                <a:solidFill>
                  <a:srgbClr val="202124"/>
                </a:solidFill>
              </a:rPr>
              <a:t>123.4%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9875A-FC7A-4E2C-B0F4-5F73142C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Buy-and-Hold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97DDB-147B-4745-B7E7-C640F03F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6368"/>
                </a:solidFill>
              </a:defRPr>
            </a:pPr>
            <a:r>
              <a:rPr sz="1950">
                <a:solidFill>
                  <a:srgbClr val="5F6368"/>
                </a:solidFill>
              </a:rPr>
              <a:t>10 von 49 Wochen investiert</a:t>
            </a:r>
          </a:p>
          <a:p xmlns:a="http://schemas.openxmlformats.org/drawingml/2006/main">
            <a:pPr>
              <a:defRPr sz="1950">
                <a:solidFill>
                  <a:srgbClr val="5F6368"/>
                </a:solidFill>
              </a:defRPr>
            </a:pPr>
            <a:r>
              <a:rPr sz="1950">
                <a:solidFill>
                  <a:srgbClr val="5F6368"/>
                </a:solidFill>
              </a:rPr>
              <a:t>12 Positionswechsel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B2619-00B7-416A-AF18-DCD410E0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6675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59055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2103c950e4432d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1783C-F222-40F0-B7C4-AC691987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Total Return in %</a:t>
            </a:r>
          </a:p>
        </p:txBody>
      </p:sp>
    </p:spTree>
    <p:extLst>
      <p:ext uri="{BB962C8B-B14F-4D97-AF65-F5344CB8AC3E}">
        <p14:creationId xmlns:p14="http://schemas.microsoft.com/office/powerpoint/2010/main" val="33223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0C177-1A94-4661-849F-D0A2A249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533D"/>
                </a:solidFill>
              </a:defRPr>
            </a:pPr>
            <a:r>
              <a:rPr sz="1200" b="1">
                <a:solidFill>
                  <a:srgbClr val="B5533D"/>
                </a:solidFill>
              </a:rPr>
              <a:t>FAZIT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22AF1-C758-420E-8061-406BDC56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124"/>
                </a:solidFill>
              </a:defRPr>
            </a:pPr>
            <a:r>
              <a:rPr sz="3150" b="1">
                <a:solidFill>
                  <a:srgbClr val="202124"/>
                </a:solidFill>
              </a:rPr>
              <a:t>Pipeline funktioniert, Modell muss besser werden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08E31-612B-4B23-A551-50A35480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A8279"/>
                </a:solidFill>
              </a:defRPr>
            </a:pPr>
            <a:r>
              <a:rPr sz="1200">
                <a:solidFill>
                  <a:srgbClr val="8A8279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6B559-553C-4493-92D3-D5B32864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060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F6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03A4F-C66F-4F01-ADD8-24565F4E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478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04–07 sind als durchgehender Workflow umgesetzt.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D1813-0D82-4D56-9115-32ABD8DA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2124"/>
                </a:solidFill>
              </a:defRPr>
            </a:pPr>
            <a:r>
              <a:rPr sz="1650">
                <a:solidFill>
                  <a:srgbClr val="202124"/>
                </a:solidFill>
              </a:rPr>
              <a:t>• Sauberer chronologischer Split mit Embargo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03252-CB1D-4705-94CA-A246C413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7187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2124"/>
                </a:solidFill>
              </a:defRPr>
            </a:pPr>
            <a:r>
              <a:rPr sz="1650">
                <a:solidFill>
                  <a:srgbClr val="202124"/>
                </a:solidFill>
              </a:rPr>
              <a:t>• Feature-Auswahl und Skalierung ohne Test-Leakage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5161D-52A7-4C24-A5F0-CCF0D9A1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48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2124"/>
                </a:solidFill>
              </a:defRPr>
            </a:pPr>
            <a:r>
              <a:rPr sz="1650">
                <a:solidFill>
                  <a:srgbClr val="202124"/>
                </a:solidFill>
              </a:rPr>
              <a:t>• Erstes Modell wurde trainiert und final getestet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DC177-08DE-485D-AFA9-0E041C35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2124"/>
                </a:solidFill>
              </a:defRPr>
            </a:pPr>
            <a:r>
              <a:rPr sz="1650">
                <a:solidFill>
                  <a:srgbClr val="202124"/>
                </a:solidFill>
              </a:rPr>
              <a:t>• Backtest zeigt: aktuelle Strategie schlägt Buy-and-Hold nicht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58A54-096C-4E82-A5AB-AFF27D91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2925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5533D"/>
                </a:solidFill>
              </a:defRPr>
            </a:pPr>
            <a:r>
              <a:rPr sz="2100" b="1">
                <a:solidFill>
                  <a:srgbClr val="B5533D"/>
                </a:solidFill>
              </a:rPr>
              <a:t>Nächster Schritt: Features, Schwellenwert und Trading-Regel verbessern.</a:t>
            </a:r>
          </a:p>
        </p:txBody>
      </p:sp>
    </p:spTree>
    <p:extLst>
      <p:ext uri="{BB962C8B-B14F-4D97-AF65-F5344CB8AC3E}">
        <p14:creationId xmlns:p14="http://schemas.microsoft.com/office/powerpoint/2010/main" val="222228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2026-06-25T16:06:53.8040000Z</dcterms:created>
  <dcterms:modified xsi:type="dcterms:W3CDTF">2026-06-25T16:06:53.8040000Z</dcterms:modified>
</coreProperties>
</file>